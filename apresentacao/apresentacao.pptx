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961120" y="2194560"/>
            <a:ext cx="1280160" cy="1097280"/>
          </a:xfrm>
          <a:prstGeom prst="line">
            <a:avLst/>
          </a:prstGeom>
          <a:noFill/>
          <a:ln w="25400">
            <a:solidFill>
              <a:srgbClr val="6E9A4F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961120" y="3291840"/>
            <a:ext cx="1280160" cy="1097280"/>
          </a:xfrm>
          <a:prstGeom prst="line">
            <a:avLst/>
          </a:prstGeom>
          <a:noFill/>
          <a:ln w="25400">
            <a:solidFill>
              <a:srgbClr val="6E9A4F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698480" y="2194560"/>
            <a:ext cx="457200" cy="1097280"/>
          </a:xfrm>
          <a:prstGeom prst="line">
            <a:avLst/>
          </a:prstGeom>
          <a:noFill/>
          <a:ln w="25400">
            <a:solidFill>
              <a:srgbClr val="6E9A4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0698480" y="3291840"/>
            <a:ext cx="457200" cy="1097280"/>
          </a:xfrm>
          <a:prstGeom prst="line">
            <a:avLst/>
          </a:prstGeom>
          <a:noFill/>
          <a:ln w="25400">
            <a:solidFill>
              <a:srgbClr val="6E9A4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412480" y="2880360"/>
            <a:ext cx="822960" cy="822960"/>
          </a:xfrm>
          <a:prstGeom prst="ellipse">
            <a:avLst/>
          </a:prstGeom>
          <a:solidFill>
            <a:srgbClr val="C2702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0" y="1828800"/>
            <a:ext cx="822960" cy="82296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41280" y="3977640"/>
            <a:ext cx="822960" cy="82296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0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155680" y="2880360"/>
            <a:ext cx="822960" cy="822960"/>
          </a:xfrm>
          <a:prstGeom prst="ellipse">
            <a:avLst/>
          </a:prstGeom>
          <a:solidFill>
            <a:srgbClr val="C2702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15568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3  ·  FLUXO MÁXIMO EM REDES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Gopher II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10080 — Emparelhamento bipartido modelado como rede de fluxo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2926080" cy="0"/>
          </a:xfrm>
          <a:prstGeom prst="line">
            <a:avLst/>
          </a:prstGeom>
          <a:noFill/>
          <a:ln w="31750">
            <a:solidFill>
              <a:srgbClr val="C270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</a:t>
            </a:r>
            <a:pPr indent="0" marL="0">
              <a:buNone/>
            </a:pPr>
            <a:r>
              <a:rPr lang="en-US" sz="150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(integrantes: preencher nomes e RAs)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 com Grafos  ·  Prof. Me. Ricardo Carubbi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e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gophers e m buracos</a:t>
            </a:r>
            <a:pPr indent="0" marL="0">
              <a:buNone/>
            </a:pPr>
            <a:r>
              <a:rPr lang="en-US" sz="16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coordenadas (x, y) no plano. Um falcão chega.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gopher se salva se alcança um buraco em </a:t>
            </a:r>
            <a:pPr indent="0" marL="0">
              <a:buNone/>
            </a:pPr>
            <a:r>
              <a:rPr lang="en-US" sz="1600" b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s segundos</a:t>
            </a:r>
            <a:pPr indent="0" marL="0">
              <a:buNone/>
            </a:pPr>
            <a:r>
              <a:rPr lang="en-US" sz="16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velocidade </a:t>
            </a:r>
            <a:pPr indent="0" marL="0">
              <a:buNone/>
            </a:pPr>
            <a:r>
              <a:rPr lang="en-US" sz="1600" b="1" i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6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buraco abriga no máximo 1 gopher</a:t>
            </a:r>
            <a:pPr indent="0" marL="0">
              <a:buNone/>
            </a:pPr>
            <a:r>
              <a:rPr lang="en-US" sz="16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(recurso disputado).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problema de emparelhamento bipartido  gophers ↔ buracos.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554480"/>
            <a:ext cx="4572000" cy="44805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2240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CB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Minimizar gophers vulneráveis
</a:t>
            </a:r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MAXIMIZAR gophers salvos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406640" y="342900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3566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alcança ⇔ distância ≤ s·v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63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⇔ distância² ≤ (s·v)²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4983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quadrados evita raiz quadrada e erro de ponto flutuante.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Modelagem: a rede de fluxo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828800" y="3223260"/>
            <a:ext cx="1417320" cy="845820"/>
          </a:xfrm>
          <a:prstGeom prst="line">
            <a:avLst/>
          </a:prstGeom>
          <a:noFill/>
          <a:ln w="25400">
            <a:solidFill>
              <a:srgbClr val="9DB07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28800" y="4069080"/>
            <a:ext cx="1417320" cy="708660"/>
          </a:xfrm>
          <a:prstGeom prst="line">
            <a:avLst/>
          </a:prstGeom>
          <a:noFill/>
          <a:ln w="25400">
            <a:solidFill>
              <a:srgbClr val="9DB07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17720" y="3223260"/>
            <a:ext cx="1645920" cy="914"/>
          </a:xfrm>
          <a:prstGeom prst="line">
            <a:avLst/>
          </a:prstGeom>
          <a:noFill/>
          <a:ln w="25400">
            <a:solidFill>
              <a:srgbClr val="9DB07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4777740"/>
            <a:ext cx="1645920" cy="914"/>
          </a:xfrm>
          <a:prstGeom prst="line">
            <a:avLst/>
          </a:prstGeom>
          <a:noFill/>
          <a:ln w="25400">
            <a:solidFill>
              <a:srgbClr val="9DB07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4617720" y="3223260"/>
            <a:ext cx="1645920" cy="1554480"/>
          </a:xfrm>
          <a:prstGeom prst="line">
            <a:avLst/>
          </a:prstGeom>
          <a:noFill/>
          <a:ln w="25400">
            <a:solidFill>
              <a:srgbClr val="C2702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35240" y="3223260"/>
            <a:ext cx="1371600" cy="845820"/>
          </a:xfrm>
          <a:prstGeom prst="line">
            <a:avLst/>
          </a:prstGeom>
          <a:noFill/>
          <a:ln w="25400">
            <a:solidFill>
              <a:srgbClr val="9DB0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7635240" y="4069080"/>
            <a:ext cx="1371600" cy="708660"/>
          </a:xfrm>
          <a:prstGeom prst="line">
            <a:avLst/>
          </a:prstGeom>
          <a:noFill/>
          <a:ln w="25400">
            <a:solidFill>
              <a:srgbClr val="9DB0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3611880"/>
            <a:ext cx="914400" cy="914400"/>
          </a:xfrm>
          <a:prstGeom prst="ellipse">
            <a:avLst/>
          </a:prstGeom>
          <a:solidFill>
            <a:srgbClr val="C2702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11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834640"/>
            <a:ext cx="1371600" cy="77724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gopher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4389120"/>
            <a:ext cx="1371600" cy="77724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4389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gopher 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1371600" cy="777240"/>
          </a:xfrm>
          <a:prstGeom prst="ellipse">
            <a:avLst/>
          </a:prstGeom>
          <a:solidFill>
            <a:srgbClr val="6E9A4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buraco 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1371600" cy="777240"/>
          </a:xfrm>
          <a:prstGeom prst="ellipse">
            <a:avLst/>
          </a:prstGeom>
          <a:solidFill>
            <a:srgbClr val="6E9A4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4389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buraco 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06840" y="3611880"/>
            <a:ext cx="914400" cy="914400"/>
          </a:xfrm>
          <a:prstGeom prst="ellipse">
            <a:avLst/>
          </a:prstGeom>
          <a:solidFill>
            <a:srgbClr val="C2702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3611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buracos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4108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sorvedouro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17830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capacidades =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unidade de fluxo = 1 gopher que ocupa 1 buraco</a:t>
            </a:r>
            <a:pPr algn="ctr" indent="0" marL="0">
              <a:buNone/>
            </a:pPr>
            <a:r>
              <a:rPr lang="en-US" sz="150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(uma decisão válida do enunciado)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Vértices, arestas e capacidades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no contexto do problema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origem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empurrar 1 unidade por gopher = "tentar salvar este gopher"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gophers (camada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vértice por gopher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buracos (camada 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vértice por buraco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— sorvedouro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chegar em T = gopher escondido (salvo)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gopher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gopher se salva no máximo uma vez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7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gopher → buraco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criada só se o gopher alcança o buraco — é uma fuga válida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7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buraco →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buraco abriga no máximo um gopher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7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DA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1554480"/>
            <a:ext cx="91440" cy="4434840"/>
          </a:xfrm>
          <a:prstGeom prst="rect">
            <a:avLst/>
          </a:prstGeom>
          <a:solidFill>
            <a:srgbClr val="C2702A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cap. = 1?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83880" y="21945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indivisível, usado uma única vez (1 gopher / 1 buraco).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 ∞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houvesse limite de passagem na aresta.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 = k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recurso tivesse k cópias (não é o caso aqui).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8388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arestas paralelas, não-direcionadas ou múltiplas cópias neste problema.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83880" y="5212080"/>
            <a:ext cx="310896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8183880" y="5212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fluxo = nº de pares = RESPOSTA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Estratégia: qual algoritmo de fluxo máximo?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D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212080" cy="594360"/>
          </a:xfrm>
          <a:prstGeom prst="rect">
            <a:avLst/>
          </a:prstGeom>
          <a:solidFill>
            <a:srgbClr val="6E7A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Ford-Fulkerson (DFS)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aumentante por busca simples (DFS)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em redes pequenas / capacidades unitárias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pode escolher caminhos ruins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2120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D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00200"/>
            <a:ext cx="521208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00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 (BFS)  ✓ escolhido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377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aumentante sempre pela BFS (mais curto em nº de arestas)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previsível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os caminhos ruins da DFS pura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417320"/>
          </a:xfrm>
          <a:prstGeom prst="rect">
            <a:avLst/>
          </a:prstGeom>
          <a:solidFill>
            <a:srgbClr val="F0DDC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Edmonds-Karp?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unitárias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cada caminho aumentante soma exatamente 1 ao fluxo, e o fluxo máximo é ≤ min(n, m) &lt; 100. A BFS é previsível e folgada para n, m &lt; 100; é a opção recomendada em caso de dúvida.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Grafo residual e caminhos aumentantes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residual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capacidade − fluxo. Quanto ainda cabe na aresta.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12140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 reversa (cap 0)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aresta tem sua reversa; a reversa de eid é eid ^ 1.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reversa?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DESFAZER uma escolha: remaneja um gopher para liberar um buraco disputado.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21868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aumentante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encontra um caminho S → T só por arestas com residual &gt; 0.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76732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capacidade residual ao longo do caminho (aqui sempre 1).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31596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251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+gargalo na aresta direta, −gargalo na reversa.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486460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800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BFS não acha mais nenhum caminho S → T no residual.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ótimo?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fluxo-máximo / corte-mínimo: sem caminho aumentante ⇒ fluxo máximo ⇒ emparelhamento máximo.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fluxo à resposta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vulneráveis =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− fluxo máximo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Salvos</a:t>
            </a:r>
            <a:pPr indent="0" marL="0">
              <a:buNone/>
            </a:pPr>
            <a:r>
              <a:rPr lang="en-US" sz="15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fluxo máximo = emparelhamento máximo.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Reconstrução do pareamento</a:t>
            </a:r>
            <a:pPr indent="0" marL="0">
              <a:buNone/>
            </a:pPr>
            <a:r>
              <a:rPr lang="en-US" sz="15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 arestas gopher → buraco com fluxo &gt; 0 dizem qual gopher foi para qual buraco.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50" i="1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pede só a quantidade ⇒ basta o valor do fluxo.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enunciado  ·  alcance² = (5·10)² = 2500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574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buraco 1 (100,100)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buraco 2 (20,20)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gopher 1 (1,1)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27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19602  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63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gopher 2 (2,2)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27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19208  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126480" y="3611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g1→b2 e g2→b2 são alcançáveis; buraco 1 é inalcançável e b2 só salva um.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4297680"/>
            <a:ext cx="5486400" cy="1554480"/>
          </a:xfrm>
          <a:prstGeom prst="rect">
            <a:avLst/>
          </a:prstGeom>
          <a:solidFill>
            <a:srgbClr val="F0DDC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4297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27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máximo = 1
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63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vulneráveis = 2 − 1 =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✓ (Sample Output)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ATÉ 1 MINUTO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Complexidade e casos especiais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D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Edmonds-Karp: </a:t>
            </a:r>
            <a:pPr indent="0" marL="0">
              <a:buNone/>
            </a:pPr>
            <a:r>
              <a:rPr lang="en-US" sz="1400" b="1" dirty="0">
                <a:solidFill>
                  <a:srgbClr val="C27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· E²)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pior caso.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 + m + 2  e  E = O(n·m), com n, m &lt; 100.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b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unitárias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≤ min(n,m) aumentos × BFS O(V+E).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b="1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</a:t>
            </a:r>
            <a:pPr indent="0" marL="0">
              <a:buNone/>
            </a:pPr>
            <a:r>
              <a:rPr lang="en-US" sz="140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dominada pela lista de arestas residuais, O(n·m).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 teste roda praticamente instantâneo.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600200"/>
            <a:ext cx="534924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D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00200"/>
            <a:ext cx="5349240" cy="594360"/>
          </a:xfrm>
          <a:prstGeom prst="rect">
            <a:avLst/>
          </a:prstGeom>
          <a:solidFill>
            <a:srgbClr val="C2702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600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especiais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37744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casos de teste até EOF.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insuficientes / buracos inalcançáveis ⇒ sobra vulnerável (coberto por n − fluxo).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por distância² evita raiz e erro de ponto flutuante.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gopher alcança buraco ⇒ fluxo 0 ⇒ todos vulneráveis.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 seguro (float('inf')) usado só no cálculo do gargalo.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no início da entrada é ignorado por segurança.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76656" y="1965960"/>
            <a:ext cx="2743200" cy="0"/>
          </a:xfrm>
          <a:prstGeom prst="line">
            <a:avLst/>
          </a:prstGeom>
          <a:noFill/>
          <a:ln w="31750">
            <a:solidFill>
              <a:srgbClr val="C27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77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“Esconder gophers” reduz a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máximo bipartido com capacidades 1</a:t>
            </a:r>
            <a:pPr indent="0" marL="0">
              <a:buNone/>
            </a:pPr>
            <a:r>
              <a:rPr lang="en-US" sz="190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solução ótima.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é direta: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vulneráveis = n − fluxo máximo</a:t>
            </a:r>
            <a:pPr indent="0" marL="0">
              <a:buNone/>
            </a:pPr>
            <a:r>
              <a:rPr lang="en-US" sz="190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 com grafo residual e arestas reversas, implementado do zero</a:t>
            </a:r>
            <a:pPr indent="0" marL="0">
              <a:buNone/>
            </a:pPr>
            <a:r>
              <a:rPr lang="en-US" sz="1900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 bibliotecas de fluxo).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393192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Submissão: Accepted na UVA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 ·  Obrigado!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UVA 10080 - Gopher II</dc:title>
  <dc:subject>PptxGenJS Presentation</dc:subject>
  <dc:creator>Grupo F</dc:creator>
  <cp:lastModifiedBy>Grupo F</cp:lastModifiedBy>
  <cp:revision>1</cp:revision>
  <dcterms:created xsi:type="dcterms:W3CDTF">2026-06-09T14:11:11Z</dcterms:created>
  <dcterms:modified xsi:type="dcterms:W3CDTF">2026-06-09T14:11:11Z</dcterms:modified>
</cp:coreProperties>
</file>